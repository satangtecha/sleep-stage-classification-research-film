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a2797159c4a52" /><Relationship Type="http://schemas.openxmlformats.org/officeDocument/2006/relationships/extended-properties" Target="/docProps/app.xml" Id="R7cd02980cb1f48ed" /><Relationship Type="http://schemas.openxmlformats.org/officeDocument/2006/relationships/officeDocument" Target="/ppt/presentation.xml" Id="R29e5cce8205d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a5a89b605436b"/>
  </p:sldMasterIdLst>
  <p:notesMasterIdLst>
    <p:notesMasterId xmlns:r="http://schemas.openxmlformats.org/officeDocument/2006/relationships" r:id="R7f0a806672f24298"/>
  </p:notesMasterIdLst>
  <p:sldIdLst>
    <p:sldId xmlns:r="http://schemas.openxmlformats.org/officeDocument/2006/relationships" id="256" r:id="R47fbaec48b6846cf"/>
    <p:sldId xmlns:r="http://schemas.openxmlformats.org/officeDocument/2006/relationships" id="257" r:id="R80cac98e75934e8d"/>
    <p:sldId xmlns:r="http://schemas.openxmlformats.org/officeDocument/2006/relationships" id="258" r:id="R12c2b00020b24426"/>
    <p:sldId xmlns:r="http://schemas.openxmlformats.org/officeDocument/2006/relationships" id="259" r:id="R9cc584ca0ae54e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c6310ca76e478f" /><Relationship Type="http://schemas.openxmlformats.org/officeDocument/2006/relationships/slideMaster" Target="/ppt/slideMasters/slideMaster1.xml" Id="R5b4a5a89b605436b" /><Relationship Type="http://schemas.openxmlformats.org/officeDocument/2006/relationships/notesMaster" Target="/ppt/notesMasters/notesMaster1.xml" Id="R7f0a806672f24298" /><Relationship Type="http://schemas.openxmlformats.org/officeDocument/2006/relationships/presProps" Target="/ppt/presProps.xml" Id="Re0132e9ef3314683" /><Relationship Type="http://schemas.openxmlformats.org/officeDocument/2006/relationships/tableStyles" Target="/ppt/tableStyles.xml" Id="R0b476d38f3f34ed2" /><Relationship Type="http://schemas.openxmlformats.org/officeDocument/2006/relationships/slide" Target="/ppt/slides/slide1.xml" Id="R47fbaec48b6846cf" /><Relationship Type="http://schemas.openxmlformats.org/officeDocument/2006/relationships/slide" Target="/ppt/slides/slide2.xml" Id="R80cac98e75934e8d" /><Relationship Type="http://schemas.openxmlformats.org/officeDocument/2006/relationships/slide" Target="/ppt/slides/slide3.xml" Id="R12c2b00020b24426" /><Relationship Type="http://schemas.openxmlformats.org/officeDocument/2006/relationships/slide" Target="/ppt/slides/slide4.xml" Id="R9cc584ca0ae5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564f77bcf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967e713084975" /><Relationship Type="http://schemas.openxmlformats.org/officeDocument/2006/relationships/notesMaster" Target="/ppt/notesMasters/notesMaster1.xml" Id="R26e57e5221e8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fd8f4e3e4a40b4" /><Relationship Type="http://schemas.openxmlformats.org/officeDocument/2006/relationships/notesMaster" Target="/ppt/notesMasters/notesMaster1.xml" Id="Rc7db35d6d1cd44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2896ac974f49ee" /><Relationship Type="http://schemas.openxmlformats.org/officeDocument/2006/relationships/notesMaster" Target="/ppt/notesMasters/notesMaster1.xml" Id="R6d8360cfcf23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f08432a71047ed" /><Relationship Type="http://schemas.openxmlformats.org/officeDocument/2006/relationships/notesMaster" Target="/ppt/notesMasters/notesMaster1.xml" Id="R5755bb4b8589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 everyone. My project is about automatic sleep stage classification from EEG.</a:t>
            </a:r>
          </a:p>
          <a:p xmlns:a="http://schemas.openxmlformats.org/drawingml/2006/main">
            <a:r>
              <a:t>The key idea is to investigate whether one EEG channel can provide enough information to classify five sleep stages automatically.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https://www.nature.com/articles/s41598-026-62832-5</a:t>
            </a:r>
          </a:p>
          <a:p xmlns:a="http://schemas.openxmlformats.org/drawingml/2006/main">
            <a:r>
              <a:t>- https://physionet.org/content/sleep-edfx/1.0.0/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idea is simple: take a 30-second segment of single-channel EEG, learn its time-frequency patterns, and predict one of five sleep stages.</a:t>
            </a:r>
          </a:p>
          <a:p xmlns:a="http://schemas.openxmlformats.org/drawingml/2006/main">
            <a:r>
              <a:t>The project objectives are to build the pipeline, compare model components, and evaluate generalization to unseen subjects.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https://www.nature.com/articles/s41598-026-62832-5</a:t>
            </a:r>
          </a:p>
          <a:p xmlns:a="http://schemas.openxmlformats.org/drawingml/2006/main">
            <a:r>
              <a:t>- https://physionet.org/content/sleep-edfx/1.0.0/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workflow begins with a 30-second Fpz-Cz epoch, normalizes the signal, creates a time-frequency representation, and learns features with CNN.</a:t>
            </a:r>
          </a:p>
          <a:p xmlns:a="http://schemas.openxmlformats.org/drawingml/2006/main">
            <a:r>
              <a:t>Contrastive learning improves robustness, and a two-layer GRU processes the ordered feature windows before predicting the five labels.</a:t>
            </a:r>
          </a:p>
          <a:p xmlns:a="http://schemas.openxmlformats.org/drawingml/2006/main">
            <a:r>
              <a:t>Macro-F1 is the primary metric because the classes are imbalanced.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https://www.nature.com/articles/s41598-026-62832-5</a:t>
            </a:r>
          </a:p>
          <a:p xmlns:a="http://schemas.openxmlformats.org/drawingml/2006/main">
            <a:r>
              <a:t>- https://physionet.org/content/sleep-edfx/1.0.0/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dataset will be Sleep-EDF Expanded, which contains whole-night polysomnography recordings and expert-scored hypnograms.</a:t>
            </a:r>
          </a:p>
          <a:p xmlns:a="http://schemas.openxmlformats.org/drawingml/2006/main">
            <a:r>
              <a:t>The final experiment will use subject-wise splits, compare baselines and ablations, and report both overall and per-stage metrics.</a:t>
            </a:r>
          </a:p>
          <a:p xmlns:a="http://schemas.openxmlformats.org/drawingml/2006/main">
            <a:r>
              <a:t>The expected contribution is a reproducible research pipeline and an honest analysis of generalization.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https://physionet.org/content/sleep-edfx/1.0.0/</a:t>
            </a:r>
          </a:p>
          <a:p xmlns:a="http://schemas.openxmlformats.org/drawingml/2006/main">
            <a:r>
              <a:t>- https://www.nature.com/articles/s41598-026-62832-5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71bfc90af4f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c7236fe5184f2e" /><Relationship Type="http://schemas.openxmlformats.org/officeDocument/2006/relationships/slideLayout" Target="/ppt/slideLayouts/slideLayout1.xml" Id="Rc17be54f319643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be54f3196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1989ac2204428" /><Relationship Type="http://schemas.openxmlformats.org/officeDocument/2006/relationships/notesSlide" Target="/ppt/notesSlides/notesSlide1.xml" Id="R7fc15a035240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8ec1743244747" /><Relationship Type="http://schemas.openxmlformats.org/officeDocument/2006/relationships/notesSlide" Target="/ppt/notesSlides/notesSlide2.xml" Id="R9fbac87b120d45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c17e32054c0f" /><Relationship Type="http://schemas.openxmlformats.org/officeDocument/2006/relationships/notesSlide" Target="/ppt/notesSlides/notesSlide3.xml" Id="Rc58d4a21e2ac4b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d8d4533a94b2f" /><Relationship Type="http://schemas.openxmlformats.org/officeDocument/2006/relationships/notesSlide" Target="/ppt/notesSlides/notesSlide4.xml" Id="Rce5e506ee7cc49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B5644-EEBB-427C-9396-6BF2A778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RESEARCH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08A53-A3BB-4044-AE58-8EB571EB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6B659-4476-4E2B-B157-F73648A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Can one EEG channel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classify sleep stages?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43C93-37FD-42A7-BD9E-E9EA46E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5F5"/>
                </a:solidFill>
              </a:defRPr>
            </a:pPr>
            <a:r>
              <a:rPr sz="1800" b="0">
                <a:solidFill>
                  <a:srgbClr val="D6E5F5"/>
                </a:solidFill>
              </a:rPr>
              <a:t>A reproducible deep-learning pipeline for</a:t>
            </a:r>
          </a:p>
          <a:p xmlns:a="http://schemas.openxmlformats.org/drawingml/2006/main">
            <a:pPr algn="l">
              <a:defRPr sz="1800" b="0">
                <a:solidFill>
                  <a:srgbClr val="D6E5F5"/>
                </a:solidFill>
              </a:defRPr>
            </a:pPr>
            <a:r>
              <a:rPr sz="1800" b="0">
                <a:solidFill>
                  <a:srgbClr val="D6E5F5"/>
                </a:solidFill>
              </a:rPr>
              <a:t>automatic sleep staging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7225B-E10C-4E3D-9334-1CF2D5CF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6D9"/>
                </a:solidFill>
              </a:defRPr>
            </a:pPr>
            <a:r>
              <a:rPr sz="1200" b="1">
                <a:solidFill>
                  <a:srgbClr val="24C6D9"/>
                </a:solidFill>
              </a:rPr>
              <a:t>SINGLE-CHANNEL EEG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FB781-64C1-4CFB-9B37-02C1F16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B7A3"/>
                </a:solidFill>
              </a:defRPr>
            </a:pPr>
            <a:r>
              <a:rPr sz="1200" b="1">
                <a:solidFill>
                  <a:srgbClr val="2DB7A3"/>
                </a:solidFill>
              </a:rPr>
              <a:t>5 SLEEP STAGES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6858A-737C-402E-8453-C10EEB0A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B545"/>
                </a:solidFill>
              </a:defRPr>
            </a:pPr>
            <a:r>
              <a:rPr sz="1200" b="1">
                <a:solidFill>
                  <a:srgbClr val="F3B545"/>
                </a:solidFill>
              </a:rPr>
              <a:t>30-SECOND EPOCHS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D07C0-5E11-456C-909E-AC625F98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4DB"/>
                </a:solidFill>
              </a:defRPr>
            </a:pPr>
            <a:r>
              <a:rPr sz="1425" b="0">
                <a:solidFill>
                  <a:srgbClr val="AFC4DB"/>
                </a:solidFill>
              </a:rPr>
              <a:t>A simpler input, a transparent evaluation,</a:t>
            </a:r>
          </a:p>
          <a:p xmlns:a="http://schemas.openxmlformats.org/drawingml/2006/main">
            <a:pPr algn="l">
              <a:defRPr sz="1425" b="0">
                <a:solidFill>
                  <a:srgbClr val="AFC4DB"/>
                </a:solidFill>
              </a:defRPr>
            </a:pPr>
            <a:r>
              <a:rPr sz="1425" b="0">
                <a:solidFill>
                  <a:srgbClr val="AFC4DB"/>
                </a:solidFill>
              </a:rPr>
              <a:t>and a research-ready prototype.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E44BE-6AEE-45CE-BD30-158D52B2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4000500" cy="4762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9525">
            <a:solidFill>
              <a:srgbClr val="2D48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A3CD4-0AE3-4CF7-8AF2-242D10B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FC4DB"/>
                </a:solidFill>
              </a:defRPr>
            </a:pPr>
            <a:r>
              <a:rPr sz="1200" b="1">
                <a:solidFill>
                  <a:srgbClr val="AFC4DB"/>
                </a:solidFill>
              </a:rPr>
              <a:t>FROM ONE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BE00A-27D3-4FE9-9D3B-1ED0A15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CC22A-25BE-48BD-9C26-4013ECC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EEG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35E10-1743-4D9B-BDFC-207DBC15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28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Fpz-Cz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5C785-973D-4587-8C0E-51DEA6D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00475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79D4F-FFB1-4C11-9300-EFFC293F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1475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06957-DF8A-4D16-8FD0-CFDD5AE0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62475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8775E-D336-4655-B1E1-DB949427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43475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B2607-7432-4972-9837-53546EB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24475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48EE1-EE08-4282-BC6D-442D7C56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909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0AC12-F837-4BE6-A9E6-1DC66A0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67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Wake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F3421-CD3E-4FF8-B8CF-79555DD4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719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A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68596-F217-459B-9D18-CB6EFDA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48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8E766-6BB9-4997-A039-DB3E31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529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4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C5FAE-2CD5-4968-A0D6-64A87F47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29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3B7B3-0202-4DE6-8B81-2484614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339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B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269F7-8CB6-4CB1-81F0-9D9296DA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10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E913C-FB10-4A75-9EBA-7348C07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149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ED557-58E8-4D8C-94EE-4E054007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91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66FD1-9FAC-4866-B31B-2DF46FE8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6E5F5"/>
                </a:solidFill>
              </a:defRPr>
            </a:pPr>
            <a:r>
              <a:rPr sz="1275" b="0">
                <a:solidFill>
                  <a:srgbClr val="D6E5F5"/>
                </a:solidFill>
              </a:rPr>
              <a:t>one 30-second epoch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27E22-8CAC-44BB-BBB9-22EDC23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966FE-CAFB-461B-8C11-672FE465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2"/>
                </a:solidFill>
              </a:defRPr>
            </a:pPr>
            <a:r>
              <a:rPr sz="975" b="0">
                <a:solidFill>
                  <a:srgbClr val="A9BCD2"/>
                </a:solidFill>
              </a:rPr>
              <a:t>Concept inspired by recent single-channel EEG sleep-staging research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E1652-B260-4742-B354-AA1D0FA4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CD2"/>
                </a:solidFill>
              </a:defRPr>
            </a:pPr>
            <a:r>
              <a:rPr sz="975" b="1">
                <a:solidFill>
                  <a:srgbClr val="A9BCD2"/>
                </a:solidFill>
              </a:rP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844525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835A9-61FD-44FD-B4DD-9F4B9759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263E"/>
                </a:solidFill>
              </a:defRPr>
            </a:pPr>
            <a:r>
              <a:rPr sz="2775" b="1">
                <a:solidFill>
                  <a:srgbClr val="15263E"/>
                </a:solidFill>
              </a:rPr>
              <a:t>The research idea is focused and 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F5360-1E0D-4859-996A-0534556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4"/>
                </a:solidFill>
              </a:defRPr>
            </a:pPr>
            <a:r>
              <a:rPr sz="1500" b="0">
                <a:solidFill>
                  <a:srgbClr val="5D6E84"/>
                </a:solidFill>
              </a:rPr>
              <a:t>Reduce the input, preserve the signal information, and evaluate generalization.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5AFC8-080D-44B1-889C-9A227789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83354-3C6C-451D-B3CC-5EDC5A1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CORE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DB450-D520-418D-B2B0-EB1463D6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Can one channel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support reliable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sleep staging?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0A59D-FF92-49E2-A27A-51899FE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9DD"/>
                </a:solidFill>
              </a:defRPr>
            </a:pPr>
            <a:r>
              <a:rPr sz="1350" b="0">
                <a:solidFill>
                  <a:srgbClr val="B7C9DD"/>
                </a:solidFill>
              </a:rPr>
              <a:t>without relying on a</a:t>
            </a:r>
          </a:p>
          <a:p xmlns:a="http://schemas.openxmlformats.org/drawingml/2006/main">
            <a:pPr algn="l">
              <a:defRPr sz="1350" b="0">
                <a:solidFill>
                  <a:srgbClr val="B7C9DD"/>
                </a:solidFill>
              </a:defRPr>
            </a:pPr>
            <a:r>
              <a:rPr sz="1350" b="0">
                <a:solidFill>
                  <a:srgbClr val="B7C9DD"/>
                </a:solidFill>
              </a:rPr>
              <a:t>full multi-sensor PSG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D9B8E-9724-43D7-8F43-DF2A1A4E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E84"/>
                </a:solidFill>
              </a:defRPr>
            </a:pPr>
            <a:r>
              <a:rPr sz="1200" b="1">
                <a:solidFill>
                  <a:srgbClr val="5D6E84"/>
                </a:solidFill>
              </a:rPr>
              <a:t>PROJECT OBJECTIVES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19936-5A0C-438F-A8C9-DACE316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DDC1B-D68D-41B2-959F-E2095823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92DD5-2E31-43E2-98E3-72BAA1BF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3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5215E-DB00-4290-A190-4BDBD85F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63E"/>
                </a:solidFill>
              </a:defRPr>
            </a:pPr>
            <a:r>
              <a:rPr sz="1800" b="1">
                <a:solidFill>
                  <a:srgbClr val="15263E"/>
                </a:solidFill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E87B-F8D7-4133-A88F-A7C8223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98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4"/>
                </a:solidFill>
              </a:defRPr>
            </a:pPr>
            <a:r>
              <a:rPr sz="1350" b="0">
                <a:solidFill>
                  <a:srgbClr val="5D6E84"/>
                </a:solidFill>
              </a:rPr>
              <a:t>A single-channel EEG sleep-staging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FA492-94EE-400D-ACF0-B122971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291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7B80A-1CCE-4D6F-AB89-B7DE2B1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05354-47D7-4128-B901-2F3EE95F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8A285-7EAA-407B-AEFD-558C2753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05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63E"/>
                </a:solidFill>
              </a:defRPr>
            </a:pPr>
            <a:r>
              <a:rPr sz="1800" b="1">
                <a:solidFill>
                  <a:srgbClr val="15263E"/>
                </a:solidFill>
              </a:rPr>
              <a:t>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2BAD8-8FBB-48B4-9CB0-37608452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4"/>
                </a:solidFill>
              </a:defRPr>
            </a:pPr>
            <a:r>
              <a:rPr sz="1350" b="0">
                <a:solidFill>
                  <a:srgbClr val="5D6E84"/>
                </a:solidFill>
              </a:rPr>
              <a:t>Baseline CNN vs. the full representation + sequence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52DB2-1609-4EDF-A1D5-A5378B1A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67C62-9EE8-4459-81CE-BACB8129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339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F04C2-3469-4DF6-86EA-5416EAB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63E"/>
                </a:solidFill>
              </a:defRPr>
            </a:pPr>
            <a:r>
              <a:rPr sz="1800" b="1">
                <a:solidFill>
                  <a:srgbClr val="15263E"/>
                </a:solidFill>
              </a:rPr>
              <a:t>Evaluate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9D5D8-52A5-407C-99E6-7B52B5B9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E84"/>
                </a:solidFill>
              </a:defRPr>
            </a:pPr>
            <a:r>
              <a:rPr sz="1350" b="0">
                <a:solidFill>
                  <a:srgbClr val="5D6E84"/>
                </a:solidFill>
              </a:rPr>
              <a:t>Class imbalance, unseen subjects, and per-stage performance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7E044-E702-4E62-A227-8784E4C8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6000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A5DF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83B5C-1C94-41EC-BE82-5979EAE2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63E"/>
                </a:solidFill>
              </a:defRPr>
            </a:pPr>
            <a:r>
              <a:rPr sz="1275" b="1">
                <a:solidFill>
                  <a:srgbClr val="15263E"/>
                </a:solidFill>
              </a:rPr>
              <a:t>Research prototype — not a medical diagnostic device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C75CF-6981-469F-B8FE-1AFFC82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0203D-CF4B-491F-A67B-46763DD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91"/>
                </a:solidFill>
              </a:defRPr>
            </a:pPr>
            <a:r>
              <a:rPr sz="975" b="0">
                <a:solidFill>
                  <a:srgbClr val="687A91"/>
                </a:solidFill>
              </a:rPr>
              <a:t>Research objective: reproducible modeling and honest 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821CF-00FA-4FD0-AD3A-5DAE1DFE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A91"/>
                </a:solidFill>
              </a:defRPr>
            </a:pPr>
            <a:r>
              <a:rPr sz="975" b="1">
                <a:solidFill>
                  <a:srgbClr val="687A91"/>
                </a:solidFill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570369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AD55BC-9D77-4019-9606-821B543E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263E"/>
                </a:solidFill>
              </a:defRPr>
            </a:pPr>
            <a:r>
              <a:rPr sz="2775" b="1">
                <a:solidFill>
                  <a:srgbClr val="15263E"/>
                </a:solidFill>
              </a:rPr>
              <a:t>The proposed workflow turns EEG into five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0D5FD-9243-4954-88CF-BA093CE3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4"/>
                </a:solidFill>
              </a:defRPr>
            </a:pPr>
            <a:r>
              <a:rPr sz="1500" b="0">
                <a:solidFill>
                  <a:srgbClr val="5D6E84"/>
                </a:solidFill>
              </a:rPr>
              <a:t>Each step has a specific role: normalize, represent, learn, and classify.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D8514-410B-4F2B-BF1C-B3F2E292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71825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C2020-0A38-4167-8DE3-3C0D136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71825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2672-035D-4B89-8C79-1E0E8767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71825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20486-5123-4738-A4C4-F63DE5C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EFD16-7669-4301-BA7A-35BB5E61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BE607-9075-447A-B32C-1EA574AF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71825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955B0-07B9-48CF-B254-991BC057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23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9710B-CAF5-4F2F-BAAB-35A2D936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4D049-EBD2-4667-8E06-53D25C15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63E"/>
                </a:solidFill>
              </a:defRPr>
            </a:pPr>
            <a:r>
              <a:rPr sz="1500" b="1">
                <a:solidFill>
                  <a:srgbClr val="15263E"/>
                </a:solidFill>
              </a:rPr>
              <a:t>30s EEG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0DABC-9257-4CD6-ABFB-8784BA6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Fpz-Cz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3,000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CB465-DC83-4109-BF01-5A7724A4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B702B-1938-43D1-9DF0-B8C75A75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89D04-A5B8-4CE8-AE43-78EE2AA0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63E"/>
                </a:solidFill>
              </a:defRPr>
            </a:pPr>
            <a:r>
              <a:rPr sz="1500" b="1">
                <a:solidFill>
                  <a:srgbClr val="15263E"/>
                </a:solidFill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3E1FD-EA18-44CA-B3D7-AFCB4D34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clean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and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0E0C2-80E3-4C61-9BAB-48465819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A7C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528D6-76F3-412E-A0AB-1A0B599C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C1E35-EF5C-40E4-95DA-7238D2A8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63E"/>
                </a:solidFill>
              </a:defRPr>
            </a:pPr>
            <a:r>
              <a:rPr sz="1500" b="1">
                <a:solidFill>
                  <a:srgbClr val="15263E"/>
                </a:solidFill>
              </a:rPr>
              <a:t>SST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1A3BF-9EAB-4821-93E9-A84CDEA1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T–F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714F6-79F2-4AF5-B764-0007EED3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C6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3846B-FDE4-4901-B69F-CF315960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8AD12-F0A4-4125-95DA-B98B7DA8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63E"/>
                </a:solidFill>
              </a:defRPr>
            </a:pPr>
            <a:r>
              <a:rPr sz="1500" b="1">
                <a:solidFill>
                  <a:srgbClr val="15263E"/>
                </a:solidFill>
              </a:rPr>
              <a:t>CNN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AAD4A-EB7B-479B-AC0A-F5EDC1F8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local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5A10E-C632-4735-A98D-1B5C78AE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DB7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157A2-93C3-42F5-88C6-94A248B2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B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205D5-5DC3-4EA7-82C7-AEA73033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63E"/>
                </a:solidFill>
              </a:defRPr>
            </a:pPr>
            <a:r>
              <a:rPr sz="1275" b="1">
                <a:solidFill>
                  <a:srgbClr val="15263E"/>
                </a:solidFill>
              </a:rPr>
              <a:t>Contrastive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230709-F47D-4550-8635-9458566E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robust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D2A7B-3738-40A4-AAF0-4DA8FC5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3B5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5B2EA-8A14-4B77-BA54-9A50E548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2FA426-52F4-49FE-9F03-A0C1CD98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63E"/>
                </a:solidFill>
              </a:defRPr>
            </a:pPr>
            <a:r>
              <a:rPr sz="1500" b="1">
                <a:solidFill>
                  <a:srgbClr val="15263E"/>
                </a:solidFill>
              </a:rPr>
              <a:t>GRU ×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F90D40-4B6B-4F18-88C3-A967884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ordered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1AADF-7B44-4AA0-97C2-AE12E4AA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238250" cy="13906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7D6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11A82-B3AF-4B60-81FC-926517A1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238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A1FBC-2F19-4F4C-88E9-1006603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43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63E"/>
                </a:solidFill>
              </a:defRPr>
            </a:pPr>
            <a:r>
              <a:rPr sz="1500" b="1">
                <a:solidFill>
                  <a:srgbClr val="15263E"/>
                </a:solidFill>
              </a:rPr>
              <a:t>5 stages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AF3D71-C61B-4E30-BA76-68A590F3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8137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Wake · N1</a:t>
            </a:r>
          </a:p>
          <a:p xmlns:a="http://schemas.openxmlformats.org/drawingml/2006/main">
            <a:pPr algn="ctr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N2 · N3 · REM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40EF1-7745-48C1-8510-12FFF938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E84"/>
                </a:solidFill>
              </a:defRPr>
            </a:pPr>
            <a:r>
              <a:rPr sz="1200" b="1">
                <a:solidFill>
                  <a:srgbClr val="5D6E84"/>
                </a:solidFill>
              </a:rPr>
              <a:t>WHY THIS COMBINATION?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F14563-CD6A-41CA-ADA7-FA8D216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180EDD-884A-48FD-B14E-E5ABF0FC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63E"/>
                </a:solidFill>
              </a:defRPr>
            </a:pPr>
            <a:r>
              <a:rPr sz="1425" b="0">
                <a:solidFill>
                  <a:srgbClr val="15263E"/>
                </a:solidFill>
              </a:rPr>
              <a:t>SST preserves time–frequency detail.</a:t>
            </a:r>
          </a:p>
          <a:p xmlns:a="http://schemas.openxmlformats.org/drawingml/2006/main">
            <a:pPr algn="l">
              <a:defRPr sz="1425" b="0">
                <a:solidFill>
                  <a:srgbClr val="15263E"/>
                </a:solidFill>
              </a:defRPr>
            </a:pPr>
            <a:r>
              <a:rPr sz="1425" b="0">
                <a:solidFill>
                  <a:srgbClr val="15263E"/>
                </a:solidFill>
              </a:rPr>
              <a:t>CNN learns local patterns. GRU preserves the order of feature windows.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01CBB3-9B38-48E1-B354-89854D97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3905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1D1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B733B-D78F-4A6C-9BC7-43FB98B4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53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B545"/>
                </a:solidFill>
              </a:defRPr>
            </a:pPr>
            <a:r>
              <a:rPr sz="1200" b="1">
                <a:solidFill>
                  <a:srgbClr val="F3B545"/>
                </a:solidFill>
              </a:rPr>
              <a:t>PRIMARY METRIC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D4354-3A10-48F9-9137-1814058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95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63E"/>
                </a:solidFill>
              </a:defRPr>
            </a:pPr>
            <a:r>
              <a:rPr sz="1725" b="1">
                <a:solidFill>
                  <a:srgbClr val="15263E"/>
                </a:solidFill>
              </a:rPr>
              <a:t>Macro-F1 + per-stage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5CA148-3640-4FD9-9992-C805A65C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6007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because the classes are imbalanced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706428-2B42-4D0F-8447-7CBEB384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F15966-30C8-469A-AF43-CE03AAB1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91"/>
                </a:solidFill>
              </a:defRPr>
            </a:pPr>
            <a:r>
              <a:rPr sz="975" b="0">
                <a:solidFill>
                  <a:srgbClr val="687A91"/>
                </a:solidFill>
              </a:rPr>
              <a:t>Model structure adapted from the selected recent research protocol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96C57A-49CA-4D66-952C-5C62B9A1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A91"/>
                </a:solidFill>
              </a:defRPr>
            </a:pPr>
            <a:r>
              <a:rPr sz="975" b="1">
                <a:solidFill>
                  <a:srgbClr val="687A91"/>
                </a:solidFill>
              </a:rP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1661248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9FB84F-C67A-4328-90A0-67CC8EA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263E"/>
                </a:solidFill>
              </a:defRPr>
            </a:pPr>
            <a:r>
              <a:rPr sz="2775" b="1">
                <a:solidFill>
                  <a:srgbClr val="15263E"/>
                </a:solidFill>
              </a:rPr>
              <a:t>Data, evaluation, and expected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734F9-E56F-4E0D-82B0-AC8C303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4"/>
                </a:solidFill>
              </a:defRPr>
            </a:pPr>
            <a:r>
              <a:rPr sz="1500" b="0">
                <a:solidFill>
                  <a:srgbClr val="5D6E84"/>
                </a:solidFill>
              </a:rPr>
              <a:t>The proposal ends with a reproducible experiment, not only a model 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8F3FE-4FE7-4CAF-9C74-19502A00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58AA-91DA-46E4-9665-4A57E6B7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713AB-C9E2-46FF-8CA3-85D32BE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63E"/>
                </a:solidFill>
              </a:defRPr>
            </a:pPr>
            <a:r>
              <a:rPr sz="2025" b="1">
                <a:solidFill>
                  <a:srgbClr val="15263E"/>
                </a:solidFill>
              </a:rPr>
              <a:t>Sleep-EDF Expanded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FA7A4-1EEF-4B18-91EB-70A6477A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E84"/>
                </a:solidFill>
              </a:defRPr>
            </a:pPr>
            <a:r>
              <a:rPr sz="1425" b="0">
                <a:solidFill>
                  <a:srgbClr val="5D6E84"/>
                </a:solidFill>
              </a:rPr>
              <a:t>197 whole-night PSG recordings</a:t>
            </a:r>
          </a:p>
          <a:p xmlns:a="http://schemas.openxmlformats.org/drawingml/2006/main">
            <a:pPr algn="l">
              <a:defRPr sz="1425" b="0">
                <a:solidFill>
                  <a:srgbClr val="5D6E84"/>
                </a:solidFill>
              </a:defRPr>
            </a:pPr>
            <a:r>
              <a:rPr sz="1425" b="0">
                <a:solidFill>
                  <a:srgbClr val="5D6E84"/>
                </a:solidFill>
              </a:rPr>
              <a:t>EEG + expert-scored hypnograms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E50C6-6D0E-44E2-8CDC-95029CE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9F35F-2F45-4B4A-9D6E-65535009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3A8A1-27CC-457A-9949-0CBE9615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E"/>
                </a:solidFill>
              </a:defRPr>
            </a:pPr>
            <a:r>
              <a:rPr sz="1200" b="1">
                <a:solidFill>
                  <a:srgbClr val="15263E"/>
                </a:solidFill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8B5EB-47F7-4D9B-89A1-F0E2D534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Fpz-Cz EEG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6A177-E9C2-4B0D-8E89-184FBE7A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13AF7-7960-4909-BCD7-C4E1201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E"/>
                </a:solidFill>
              </a:defRPr>
            </a:pPr>
            <a:r>
              <a:rPr sz="1200" b="1">
                <a:solidFill>
                  <a:srgbClr val="15263E"/>
                </a:solidFill>
              </a:rPr>
              <a:t>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28EC2-89DB-4173-B15F-3239A57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38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Wake / N1 / N2 / N3 / REM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E9DF4-70E8-4E2A-9345-45CCD491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2C032-35CA-4CC3-88DB-6A391FA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E"/>
                </a:solidFill>
              </a:defRPr>
            </a:pPr>
            <a:r>
              <a:rPr sz="1200" b="1">
                <a:solidFill>
                  <a:srgbClr val="15263E"/>
                </a:solidFill>
              </a:rPr>
              <a:t>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7F998-D5B5-498F-BB94-EEC5A62E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00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E84"/>
                </a:solidFill>
              </a:defRPr>
            </a:pPr>
            <a:r>
              <a:rPr sz="1200" b="0">
                <a:solidFill>
                  <a:srgbClr val="5D6E84"/>
                </a:solidFill>
              </a:rPr>
              <a:t>subject-wise train /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D508D-80B5-4C52-AC45-5C0E026C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5810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F02D9-E642-48FB-B751-35E4E17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EVALUATION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22F47-DACF-4087-A06E-87C3E9BD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62635-FE37-41AE-8A8F-796DCC1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67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</a:defRPr>
            </a:pPr>
            <a:r>
              <a:rPr sz="975" b="1">
                <a:solidFill>
                  <a:srgbClr val="0B1220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7E73E-C8A3-40F4-A290-F064B452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3DA0C-13D9-4640-8BA6-EFACCF41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7E7"/>
                </a:solidFill>
              </a:defRPr>
            </a:pPr>
            <a:r>
              <a:rPr sz="1275" b="0">
                <a:solidFill>
                  <a:srgbClr val="C8D7E7"/>
                </a:solidFill>
              </a:rPr>
              <a:t>Majority class + CNN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30433-FEE0-40A4-B9F2-11E62D5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BE4E2-F868-4B8B-A002-7D39546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</a:defRPr>
            </a:pPr>
            <a:r>
              <a:rPr sz="975" b="1">
                <a:solidFill>
                  <a:srgbClr val="0B1220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32B8D-B713-4266-9E44-15D14076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6AA15-107E-4C9A-A441-F054766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7E7"/>
                </a:solidFill>
              </a:defRPr>
            </a:pPr>
            <a:r>
              <a:rPr sz="1275" b="0">
                <a:solidFill>
                  <a:srgbClr val="C8D7E7"/>
                </a:solidFill>
              </a:rPr>
              <a:t>SST / contrastive / GRU / class weighting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C50BD-ABEB-4CF8-845C-B8E764C6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9FB8D-0DBE-44D3-AD02-14379985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0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</a:defRPr>
            </a:pPr>
            <a:r>
              <a:rPr sz="975" b="1">
                <a:solidFill>
                  <a:srgbClr val="0B1220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4D55E-05C2-4723-A8B2-D285F5C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Metrics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98585D-EEA6-464B-96FF-36F38DC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7E7"/>
                </a:solidFill>
              </a:defRPr>
            </a:pPr>
            <a:r>
              <a:rPr sz="1275" b="0">
                <a:solidFill>
                  <a:srgbClr val="C8D7E7"/>
                </a:solidFill>
              </a:rPr>
              <a:t>Accuracy, macro-F1, kappa, confusion matrix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8B673-F1C5-4364-9B41-1762A14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39795-6E72-42DD-B4BA-566E2228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</a:defRPr>
            </a:pPr>
            <a:r>
              <a:rPr sz="975" b="1">
                <a:solidFill>
                  <a:srgbClr val="0B1220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8F17D2-0DFD-4997-8123-46B6688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Generalization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7E6BD8-DB89-4BD7-9C25-6B4F99B0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7E7"/>
                </a:solidFill>
              </a:defRPr>
            </a:pPr>
            <a:r>
              <a:rPr sz="1275" b="0">
                <a:solidFill>
                  <a:srgbClr val="C8D7E7"/>
                </a:solidFill>
              </a:rPr>
              <a:t>Unseen subjects, then external dataset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0EA13E-19C5-46D3-A138-CE7725C9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A5DF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7886C-B80E-489E-A657-06B90AF3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388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63E"/>
                </a:solidFill>
              </a:defRPr>
            </a:pPr>
            <a:r>
              <a:rPr sz="1350" b="1">
                <a:solidFill>
                  <a:srgbClr val="15263E"/>
                </a:solidFill>
              </a:rPr>
              <a:t>EXPECTED CONTRIBUTION: a transparent, reproducible single-channel EEG sleep-staging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B4CFD9-3702-4141-BAC3-4A7A21A5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53BE6A-12BD-4041-85E2-7535DC3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91"/>
                </a:solidFill>
              </a:defRPr>
            </a:pPr>
            <a:r>
              <a:rPr sz="975" b="0">
                <a:solidFill>
                  <a:srgbClr val="687A91"/>
                </a:solidFill>
              </a:rPr>
              <a:t>Dataset: PhysioNet Sleep-EDF · evaluation designed for reproducibility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97A7A-09DA-4EA2-862D-68E21EE4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A91"/>
                </a:solidFill>
              </a:defRPr>
            </a:pPr>
            <a:r>
              <a:rPr sz="975" b="1">
                <a:solidFill>
                  <a:srgbClr val="687A91"/>
                </a:solidFill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408813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2026-08-18T14:27:40.8050000Z</dcterms:created>
  <dcterms:modified xsi:type="dcterms:W3CDTF">2026-08-18T14:27:40.8050000Z</dcterms:modified>
</coreProperties>
</file>