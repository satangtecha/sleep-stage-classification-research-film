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3d15b93b20b45bf" /><Relationship Type="http://schemas.openxmlformats.org/officeDocument/2006/relationships/extended-properties" Target="/docProps/app.xml" Id="R526c5e1e751f4eae" /><Relationship Type="http://schemas.openxmlformats.org/officeDocument/2006/relationships/officeDocument" Target="/ppt/presentation.xml" Id="R9f83a0da7916485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a25d762634a4539"/>
  </p:sldMasterIdLst>
  <p:notesMasterIdLst>
    <p:notesMasterId xmlns:r="http://schemas.openxmlformats.org/officeDocument/2006/relationships" r:id="R199ad0eb7d7c46c1"/>
  </p:notesMasterIdLst>
  <p:sldIdLst>
    <p:sldId xmlns:r="http://schemas.openxmlformats.org/officeDocument/2006/relationships" id="256" r:id="R79f45cc704fb40c2"/>
    <p:sldId xmlns:r="http://schemas.openxmlformats.org/officeDocument/2006/relationships" id="257" r:id="R331a5fabf3e349f8"/>
    <p:sldId xmlns:r="http://schemas.openxmlformats.org/officeDocument/2006/relationships" id="258" r:id="R6d36cff239324f1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7dc72ae22ab42e3" /><Relationship Type="http://schemas.openxmlformats.org/officeDocument/2006/relationships/slideMaster" Target="/ppt/slideMasters/slideMaster1.xml" Id="R0a25d762634a4539" /><Relationship Type="http://schemas.openxmlformats.org/officeDocument/2006/relationships/notesMaster" Target="/ppt/notesMasters/notesMaster1.xml" Id="R199ad0eb7d7c46c1" /><Relationship Type="http://schemas.openxmlformats.org/officeDocument/2006/relationships/presProps" Target="/ppt/presProps.xml" Id="Rf73a72c25e0142ec" /><Relationship Type="http://schemas.openxmlformats.org/officeDocument/2006/relationships/tableStyles" Target="/ppt/tableStyles.xml" Id="R581f795812cf4f7e" /><Relationship Type="http://schemas.openxmlformats.org/officeDocument/2006/relationships/slide" Target="/ppt/slides/slide1.xml" Id="R79f45cc704fb40c2" /><Relationship Type="http://schemas.openxmlformats.org/officeDocument/2006/relationships/slide" Target="/ppt/slides/slide2.xml" Id="R331a5fabf3e349f8" /><Relationship Type="http://schemas.openxmlformats.org/officeDocument/2006/relationships/slide" Target="/ppt/slides/slide3.xml" Id="R6d36cff239324f1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5e7a75d1fd1495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1fd83393cd84f56" /><Relationship Type="http://schemas.openxmlformats.org/officeDocument/2006/relationships/notesMaster" Target="/ppt/notesMasters/notesMaster1.xml" Id="R44700f7094594eb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a8e9391e60747ca" /><Relationship Type="http://schemas.openxmlformats.org/officeDocument/2006/relationships/notesMaster" Target="/ppt/notesMasters/notesMaster1.xml" Id="R653415d29545417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76f4702e9144d8a" /><Relationship Type="http://schemas.openxmlformats.org/officeDocument/2006/relationships/notesMaster" Target="/ppt/notesMasters/notesMaster1.xml" Id="R7c597bdd20e44fa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เปิดด้วยคำถาม: เราสามารถลดจำนวน channel ของ EEG แต่ยังจำแนกระยะการนอนได้หรือไม่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https://www.nature.com/articles/s41598-026-62832-5 (งานวิจัยหลักและผลที่รายงาน)</a:t>
            </a:r>
          </a:p>
          <a:p xmlns:a="http://schemas.openxmlformats.org/drawingml/2006/main">
            <a:r>
              <a:t>- https://physionet.org/content/sleep-edfx/1.0.0/ (ชุดข้อมูล Sleep-EDF)</a:t>
            </a:r>
          </a:p>
          <a:p xmlns:a="http://schemas.openxmlformats.org/drawingml/2006/main">
            <a:r>
              <a:t>- ภาพประกอบสร้างด้วย OpenAI image generation เพื่อใช้ในสไลด์นี้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อธิบาย pipeline จากซ้ายไปขวา โดยเน้นว่าระบบไม่ได้ดูแค่ amplitude แต่สร้าง representation และใช้ sequence context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https://www.nature.com/articles/s41598-026-62832-5 (โครงสร้าง SST, CNN, contrastive learning และ GRU)</a:t>
            </a:r>
          </a:p>
          <a:p xmlns:a="http://schemas.openxmlformats.org/drawingml/2006/main">
            <a:r>
              <a:t>- https://physionet.org/content/sleep-edfx/1.0.0/ (EEG และ hypnogram)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ปิดด้วยความแตกต่างระหว่าง pilot กับ benchmark: 83% เป็นผลของ paper บน protocol เต็ม ไม่ใช่ตัวเลขที่นำมาเทียบตรง ๆ กับ subset นี้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https://www.nature.com/articles/s41598-026-62832-5 (83% ที่ paper รายงาน)</a:t>
            </a:r>
          </a:p>
          <a:p xmlns:a="http://schemas.openxmlformats.org/drawingml/2006/main">
            <a:r>
              <a:t>- C:\Users\Acer\OneDrive\Documents\เป้าๆรวยๆๆๆ\sleep_stage_reproduction\real_sst_gru_fullish_results.json (pilot unweighted)</a:t>
            </a:r>
          </a:p>
          <a:p xmlns:a="http://schemas.openxmlformats.org/drawingml/2006/main">
            <a:r>
              <a:t>- C:\Users\Acer\OneDrive\Documents\เป้าๆรวยๆๆๆ\sleep_stage_reproduction\real_sst_gru_weighted_results.json (pilot class-weighted)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660fe986ca490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0c15b1dbab44ce1" /><Relationship Type="http://schemas.openxmlformats.org/officeDocument/2006/relationships/slideLayout" Target="/ppt/slideLayouts/slideLayout1.xml" Id="R4e89debce73e4e1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e89debce73e4e1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942a0cde204bbc" /><Relationship Type="http://schemas.openxmlformats.org/officeDocument/2006/relationships/image" Target="/ppt/media/image.png" Id="R491903585ab041af" /><Relationship Type="http://schemas.openxmlformats.org/officeDocument/2006/relationships/notesSlide" Target="/ppt/notesSlides/notesSlide1.xml" Id="Rafae9becd2974df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2c08de4fac4775" /><Relationship Type="http://schemas.openxmlformats.org/officeDocument/2006/relationships/notesSlide" Target="/ppt/notesSlides/notesSlide2.xml" Id="Re63f64ee39c140a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6fb0ea73b240c4" /><Relationship Type="http://schemas.openxmlformats.org/officeDocument/2006/relationships/notesSlide" Target="/ppt/notesSlides/notesSlide3.xml" Id="Rab95ac54214845e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615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1903585ab041af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146C12-0141-4B03-AB88-EE608E690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191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5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A2CDA2-E661-45E2-8344-37DAF4F3E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858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4D6E8"/>
                </a:solidFill>
              </a:defRPr>
            </a:pPr>
            <a:r>
              <a:rPr sz="1200" b="1">
                <a:solidFill>
                  <a:srgbClr val="44D6E8"/>
                </a:solidFill>
              </a:rPr>
              <a:t>RESEARCH PROPOSAL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F15D45-659B-4C5B-9CFF-647A337EE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66800"/>
            <a:ext cx="819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76A522-CC90-45F8-9D3E-63B9CCA4D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85900"/>
            <a:ext cx="5429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แยกประเภทการนอน</a:t>
            </a:r>
          </a:p>
          <a:p xmlns:a="http://schemas.openxmlformats.org/drawingml/2006/main">
            <a:pPr algn="l"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จาก EEG ช่องเดียว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0F26D4-4712-4A3B-8E6E-EA7314C10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7E7F8"/>
                </a:solidFill>
              </a:defRPr>
            </a:pPr>
            <a:r>
              <a:rPr sz="1800" b="0">
                <a:solidFill>
                  <a:srgbClr val="D7E7F8"/>
                </a:solidFill>
              </a:rPr>
              <a:t>พัฒนาโมเดล Sleep Stage Classification</a:t>
            </a:r>
          </a:p>
          <a:p xmlns:a="http://schemas.openxmlformats.org/drawingml/2006/main">
            <a:pPr algn="l">
              <a:defRPr sz="1800" b="0">
                <a:solidFill>
                  <a:srgbClr val="D7E7F8"/>
                </a:solidFill>
              </a:defRPr>
            </a:pPr>
            <a:r>
              <a:rPr sz="1800" b="0">
                <a:solidFill>
                  <a:srgbClr val="D7E7F8"/>
                </a:solidFill>
              </a:rPr>
              <a:t>ด้วย SST + CNN + Contrastive Learning + GRU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6690E9-3C6C-40CB-A547-2B2E8FA35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00550"/>
            <a:ext cx="3333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BB0D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B6E866-F896-4D67-B76C-C88CE6EB5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29150"/>
            <a:ext cx="3000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61528"/>
                </a:solidFill>
              </a:defRPr>
            </a:pPr>
            <a:r>
              <a:rPr sz="1650" b="1">
                <a:solidFill>
                  <a:srgbClr val="061528"/>
                </a:solidFill>
              </a:rPr>
              <a:t>1 ช่อง EEG  →  5 ระยะการนอน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26AB8D-004F-442F-A196-05585ABF5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62525"/>
            <a:ext cx="3000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B2340"/>
                </a:solidFill>
              </a:defRPr>
            </a:pPr>
            <a:r>
              <a:rPr sz="1200" b="0">
                <a:solidFill>
                  <a:srgbClr val="0B2340"/>
                </a:solidFill>
              </a:rPr>
              <a:t>Wake · N1 · N2 · N3 · REM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EF0AAB-8EFF-4F6A-A941-352E73BC7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912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9D0E9"/>
                </a:solidFill>
              </a:defRPr>
            </a:pPr>
            <a:r>
              <a:rPr sz="1275" b="0">
                <a:solidFill>
                  <a:srgbClr val="B9D0E9"/>
                </a:solidFill>
              </a:rPr>
              <a:t>จากสัญญาณดิบสู่การตัดสินใจที่อธิบายได้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D7AC53-D1F5-4D9E-9C46-8539C2E8A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50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C6A596-8BE6-4FAC-B97F-FD0A1C661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72250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9BDD5"/>
                </a:solidFill>
              </a:defRPr>
            </a:pPr>
            <a:r>
              <a:rPr sz="975" b="0">
                <a:solidFill>
                  <a:srgbClr val="A9BDD5"/>
                </a:solidFill>
              </a:rPr>
              <a:t>แหล่งข้อมูล: Scientific Reports 2026 · PhysioNet Sleep-EDF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AEEDA2-EE0A-48FD-AF47-63C467BF4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722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9BDD5"/>
                </a:solidFill>
              </a:defRPr>
            </a:pPr>
            <a:r>
              <a:rPr sz="975" b="1">
                <a:solidFill>
                  <a:srgbClr val="A9BDD5"/>
                </a:solidFill>
              </a:rPr>
              <a:t>01 / 03</a:t>
            </a:r>
          </a:p>
        </p:txBody>
      </p:sp>
    </p:spTree>
    <p:extLst>
      <p:ext uri="{BB962C8B-B14F-4D97-AF65-F5344CB8AC3E}">
        <p14:creationId xmlns:p14="http://schemas.microsoft.com/office/powerpoint/2010/main" val="78268155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17EF9C9-5C60-41F8-99E1-2069AFA74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13A"/>
                </a:solidFill>
              </a:defRPr>
            </a:pPr>
            <a:r>
              <a:rPr sz="2700" b="1">
                <a:solidFill>
                  <a:srgbClr val="10213A"/>
                </a:solidFill>
              </a:rPr>
              <a:t>โมเดลเปลี่ยนสัญญาณ EEG ให้เป็น sleep stage ได้อย่างไร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FD95ED-85C3-4A9C-A197-8C1FC76F7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3475"/>
            <a:ext cx="800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4657D"/>
                </a:solidFill>
              </a:defRPr>
            </a:pPr>
            <a:r>
              <a:rPr sz="1500" b="0">
                <a:solidFill>
                  <a:srgbClr val="54657D"/>
                </a:solidFill>
              </a:rPr>
              <a:t>ใช้ทั้งรูปแบบเวลา–ความถี่ และบริบทของ epoch ที่ต่อเนื่องกัน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D80566-DB7E-4EFD-AD1B-C97BC614A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90550"/>
            <a:ext cx="24765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3F7FA"/>
          </a:solidFill>
          <a:ln xmlns:a="http://schemas.openxmlformats.org/drawingml/2006/main" w="9525">
            <a:solidFill>
              <a:srgbClr val="9DDC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108218-E836-454B-A1DE-6B039278D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723900"/>
            <a:ext cx="2133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2340"/>
                </a:solidFill>
              </a:defRPr>
            </a:pPr>
            <a:r>
              <a:rPr sz="1350" b="1">
                <a:solidFill>
                  <a:srgbClr val="0B2340"/>
                </a:solidFill>
              </a:rPr>
              <a:t>30 วินาที</a:t>
            </a:r>
          </a:p>
          <a:p xmlns:a="http://schemas.openxmlformats.org/drawingml/2006/main">
            <a:pPr algn="ctr">
              <a:defRPr sz="1350" b="1">
                <a:solidFill>
                  <a:srgbClr val="0B2340"/>
                </a:solidFill>
              </a:defRPr>
            </a:pPr>
            <a:r>
              <a:rPr sz="1350" b="1">
                <a:solidFill>
                  <a:srgbClr val="0B2340"/>
                </a:solidFill>
              </a:rPr>
              <a:t>3,000 samples / epoch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CE6B6C-B6F3-4925-BA8E-5A49967AD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124200"/>
            <a:ext cx="2667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5C5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AFD6BE-4F25-4D08-B96E-46B62EF64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124200"/>
            <a:ext cx="2667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5C5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AE1EBA-C019-448F-A1ED-AC5665AF3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124200"/>
            <a:ext cx="2667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5C5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279A25-8A3A-4CF0-9710-6371E0B38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124200"/>
            <a:ext cx="2667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5C5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F03080-9C1D-4974-9AAA-D296D0D45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124200"/>
            <a:ext cx="2667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5C5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92687C-25B1-4D79-97A4-C717811F3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52700"/>
            <a:ext cx="1333500" cy="1428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B234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90DB03-C024-4ABC-A6C0-74BFED64F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52700"/>
            <a:ext cx="13335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23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C8FD99-7155-494F-A22F-16C0A700C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57500"/>
            <a:ext cx="110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13A"/>
                </a:solidFill>
              </a:defRPr>
            </a:pPr>
            <a:r>
              <a:rPr sz="1650" b="1">
                <a:solidFill>
                  <a:srgbClr val="10213A"/>
                </a:solidFill>
              </a:rPr>
              <a:t>EEG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FB4446-5C33-46D0-B202-FA8AC0738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95650"/>
            <a:ext cx="1104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4657D"/>
                </a:solidFill>
              </a:defRPr>
            </a:pPr>
            <a:r>
              <a:rPr sz="1275" b="0">
                <a:solidFill>
                  <a:srgbClr val="54657D"/>
                </a:solidFill>
              </a:rPr>
              <a:t>Fpz–Cz</a:t>
            </a:r>
          </a:p>
          <a:p xmlns:a="http://schemas.openxmlformats.org/drawingml/2006/main">
            <a:pPr algn="ctr">
              <a:defRPr sz="1275" b="0">
                <a:solidFill>
                  <a:srgbClr val="54657D"/>
                </a:solidFill>
              </a:defRPr>
            </a:pPr>
            <a:r>
              <a:rPr sz="1275" b="0">
                <a:solidFill>
                  <a:srgbClr val="54657D"/>
                </a:solidFill>
              </a:rPr>
              <a:t>raw signal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6678FE-D171-4E60-8C58-45151231C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552700"/>
            <a:ext cx="1333500" cy="1428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44D6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CA915E-4263-4445-AF0C-3F0E1E208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552700"/>
            <a:ext cx="13335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4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CFDF35-BE75-452E-B992-13D584A04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857500"/>
            <a:ext cx="110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13A"/>
                </a:solidFill>
              </a:defRPr>
            </a:pPr>
            <a:r>
              <a:rPr sz="1650" b="1">
                <a:solidFill>
                  <a:srgbClr val="10213A"/>
                </a:solidFill>
              </a:rPr>
              <a:t>SST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961C97-95F6-412A-A394-033C62B22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295650"/>
            <a:ext cx="1104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4657D"/>
                </a:solidFill>
              </a:defRPr>
            </a:pPr>
            <a:r>
              <a:rPr sz="1275" b="0">
                <a:solidFill>
                  <a:srgbClr val="54657D"/>
                </a:solidFill>
              </a:rPr>
              <a:t>T–F map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E28251-E528-41AA-A0FF-62AB94426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552700"/>
            <a:ext cx="1333500" cy="1428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8B7CF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0F2070-CF79-44E8-8994-DBBC79D39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552700"/>
            <a:ext cx="13335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7C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1D0D59-8DAB-4C68-8C48-52397EDF5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857500"/>
            <a:ext cx="110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13A"/>
                </a:solidFill>
              </a:defRPr>
            </a:pPr>
            <a:r>
              <a:rPr sz="1650" b="1">
                <a:solidFill>
                  <a:srgbClr val="10213A"/>
                </a:solidFill>
              </a:rPr>
              <a:t>CNN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813D5B-592D-4F09-B03E-2C7BFBFBB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295650"/>
            <a:ext cx="1104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4657D"/>
                </a:solidFill>
              </a:defRPr>
            </a:pPr>
            <a:r>
              <a:rPr sz="1275" b="0">
                <a:solidFill>
                  <a:srgbClr val="54657D"/>
                </a:solidFill>
              </a:rPr>
              <a:t>short-window</a:t>
            </a:r>
          </a:p>
          <a:p xmlns:a="http://schemas.openxmlformats.org/drawingml/2006/main">
            <a:pPr algn="ctr">
              <a:defRPr sz="1275" b="0">
                <a:solidFill>
                  <a:srgbClr val="54657D"/>
                </a:solidFill>
              </a:defRPr>
            </a:pPr>
            <a:r>
              <a:rPr sz="1275" b="0">
                <a:solidFill>
                  <a:srgbClr val="54657D"/>
                </a:solidFill>
              </a:rPr>
              <a:t>features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DD4A63-1341-4BBA-A96C-8117B9469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552700"/>
            <a:ext cx="1333500" cy="1428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5B6A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FA077B-1FEF-41A5-9C91-008228F96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552700"/>
            <a:ext cx="13335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B6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4E5B45-FC00-40B1-AB05-39F3566A1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857500"/>
            <a:ext cx="110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13A"/>
                </a:solidFill>
              </a:defRPr>
            </a:pPr>
            <a:r>
              <a:rPr sz="1350" b="1">
                <a:solidFill>
                  <a:srgbClr val="10213A"/>
                </a:solidFill>
              </a:rPr>
              <a:t>Contrastive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0C478D-028C-49C3-9238-C98DBE317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295650"/>
            <a:ext cx="1104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4657D"/>
                </a:solidFill>
              </a:defRPr>
            </a:pPr>
            <a:r>
              <a:rPr sz="1275" b="0">
                <a:solidFill>
                  <a:srgbClr val="54657D"/>
                </a:solidFill>
              </a:rPr>
              <a:t>refine</a:t>
            </a:r>
          </a:p>
          <a:p xmlns:a="http://schemas.openxmlformats.org/drawingml/2006/main">
            <a:pPr algn="ctr">
              <a:defRPr sz="1275" b="0">
                <a:solidFill>
                  <a:srgbClr val="54657D"/>
                </a:solidFill>
              </a:defRPr>
            </a:pPr>
            <a:r>
              <a:rPr sz="1275" b="0">
                <a:solidFill>
                  <a:srgbClr val="54657D"/>
                </a:solidFill>
              </a:rPr>
              <a:t>features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CF5F93-6416-4D83-BF7D-78AADCA8F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552700"/>
            <a:ext cx="1333500" cy="1428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F4B54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655F166-7375-44FD-8A1F-AF86DBE95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552700"/>
            <a:ext cx="13335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B5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2023C13-E03C-434D-9A6F-3269E514F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857500"/>
            <a:ext cx="110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13A"/>
                </a:solidFill>
              </a:defRPr>
            </a:pPr>
            <a:r>
              <a:rPr sz="1650" b="1">
                <a:solidFill>
                  <a:srgbClr val="10213A"/>
                </a:solidFill>
              </a:rPr>
              <a:t>GRU × 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32A0176-F1A3-4D2F-A6F1-84F914ACB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295650"/>
            <a:ext cx="1104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4657D"/>
                </a:solidFill>
              </a:defRPr>
            </a:pPr>
            <a:r>
              <a:rPr sz="1275" b="0">
                <a:solidFill>
                  <a:srgbClr val="54657D"/>
                </a:solidFill>
              </a:rPr>
              <a:t>sequence</a:t>
            </a:r>
          </a:p>
          <a:p xmlns:a="http://schemas.openxmlformats.org/drawingml/2006/main">
            <a:pPr algn="ctr">
              <a:defRPr sz="1275" b="0">
                <a:solidFill>
                  <a:srgbClr val="54657D"/>
                </a:solidFill>
              </a:defRPr>
            </a:pPr>
            <a:r>
              <a:rPr sz="1275" b="0">
                <a:solidFill>
                  <a:srgbClr val="54657D"/>
                </a:solidFill>
              </a:rPr>
              <a:t>context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D1E6248-17B2-4B4C-A77E-AA976977D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552700"/>
            <a:ext cx="1333500" cy="1428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F47B6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2CE2F0D-5B54-48C6-B4F9-09D895BF4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552700"/>
            <a:ext cx="13335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7B6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5EF008A-099A-461B-8323-92C09EF22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857500"/>
            <a:ext cx="110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13A"/>
                </a:solidFill>
              </a:defRPr>
            </a:pPr>
            <a:r>
              <a:rPr sz="1650" b="1">
                <a:solidFill>
                  <a:srgbClr val="10213A"/>
                </a:solidFill>
              </a:rPr>
              <a:t>5 stages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CF38E4D-BEED-4B6E-BBB1-7C4FFC6CD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295650"/>
            <a:ext cx="1104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4657D"/>
                </a:solidFill>
              </a:defRPr>
            </a:pPr>
            <a:r>
              <a:rPr sz="1275" b="0">
                <a:solidFill>
                  <a:srgbClr val="54657D"/>
                </a:solidFill>
              </a:rPr>
              <a:t>W · N1 · N2</a:t>
            </a:r>
          </a:p>
          <a:p xmlns:a="http://schemas.openxmlformats.org/drawingml/2006/main">
            <a:pPr algn="ctr">
              <a:defRPr sz="1275" b="0">
                <a:solidFill>
                  <a:srgbClr val="54657D"/>
                </a:solidFill>
              </a:defRPr>
            </a:pPr>
            <a:r>
              <a:rPr sz="1275" b="0">
                <a:solidFill>
                  <a:srgbClr val="54657D"/>
                </a:solidFill>
              </a:rPr>
              <a:t>N3 · REM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BB97A4C-8231-4257-9A65-73249CB12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529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13A"/>
                </a:solidFill>
              </a:defRPr>
            </a:pPr>
            <a:r>
              <a:rPr sz="1650" b="1">
                <a:solidFill>
                  <a:srgbClr val="10213A"/>
                </a:solidFill>
              </a:rPr>
              <a:t>สิ่งที่ทำให้แนวทางนี้ต่างจาก CNN ธรรมดา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88CA7D5-9F25-48CF-AC66-8F79AB781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72050"/>
            <a:ext cx="4857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A7A1FE1-86A4-4E93-8A2A-07E30A6C2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00650"/>
            <a:ext cx="514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4657D"/>
                </a:solidFill>
              </a:defRPr>
            </a:pPr>
            <a:r>
              <a:rPr sz="1425" b="0">
                <a:solidFill>
                  <a:srgbClr val="54657D"/>
                </a:solidFill>
              </a:rPr>
              <a:t>SST ช่วยรักษารายละเอียดของ EEG ในโดเมนเวลา–ความถี่</a:t>
            </a:r>
          </a:p>
          <a:p xmlns:a="http://schemas.openxmlformats.org/drawingml/2006/main">
            <a:pPr algn="l">
              <a:defRPr sz="1425" b="0">
                <a:solidFill>
                  <a:srgbClr val="54657D"/>
                </a:solidFill>
              </a:defRPr>
            </a:pPr>
            <a:r>
              <a:rPr sz="1425" b="0">
                <a:solidFill>
                  <a:srgbClr val="54657D"/>
                </a:solidFill>
              </a:rPr>
              <a:t>ขณะที่ GRU ใช้บริบทของลำดับ ไม่ตัดสินจาก epoch เดียวแบบโดด ๆ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28A121F-8395-42C4-A6A7-4CA2F5D5D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5529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4657D"/>
                </a:solidFill>
              </a:defRPr>
            </a:pPr>
            <a:r>
              <a:rPr sz="1200" b="1">
                <a:solidFill>
                  <a:srgbClr val="54657D"/>
                </a:solidFill>
              </a:rPr>
              <a:t>OUTPUT LABELS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2474B96-0D61-4BA4-9229-1222D55A4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97205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B23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2436215-8A9B-45CC-95CB-6BE522AB0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9587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W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BF37F72-2EAA-4256-928F-7E7BC0713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97205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8B7C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A9502D1-088C-440E-912E-0E8E04BC7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09587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N1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446E542-E387-4BF6-8843-58526C081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97205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44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AF7601B-3D0C-418F-B83A-EFF3E5BEC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509587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N2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C6EB3B6-71A0-4387-BDBA-5CE3AE60E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97205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25B6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43A3FC4-1361-4579-8123-439C3F9DC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509587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N3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021549D-7A4B-47FD-A780-59E58C139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497205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4B5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8E01A90-F994-40AB-B1DD-EC7B0F4F0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509587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REM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46D4993-082F-45AA-B451-8A8D71FAA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67690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13A"/>
                </a:solidFill>
              </a:defRPr>
            </a:pPr>
            <a:r>
              <a:rPr sz="1350" b="0">
                <a:solidFill>
                  <a:srgbClr val="10213A"/>
                </a:solidFill>
              </a:rPr>
              <a:t>เป้าหมาย: โมเดลที่แม่นขึ้นและตรวจสอบได้</a:t>
            </a:r>
          </a:p>
          <a:p xmlns:a="http://schemas.openxmlformats.org/drawingml/2006/main">
            <a:pPr algn="l">
              <a:defRPr sz="1350" b="0">
                <a:solidFill>
                  <a:srgbClr val="10213A"/>
                </a:solidFill>
              </a:defRPr>
            </a:pPr>
            <a:r>
              <a:rPr sz="1350" b="0">
                <a:solidFill>
                  <a:srgbClr val="10213A"/>
                </a:solidFill>
              </a:rPr>
              <a:t>โดยไม่ให้ข้อมูลจากคนเดียวกันรั่วข้ามชุด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A528D8D-603A-4CB4-BB32-D8397D360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E67DA7E-075E-4ACD-9316-817CDBC3C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7225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A91"/>
                </a:solidFill>
              </a:defRPr>
            </a:pPr>
            <a:r>
              <a:rPr sz="975" b="0">
                <a:solidFill>
                  <a:srgbClr val="687A91"/>
                </a:solidFill>
              </a:rPr>
              <a:t>แหล่งข้อมูล: Nature Scientific Reports 2026 · protocol-level reproduction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450D535-0CA3-4279-AB42-2344B0381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722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7A91"/>
                </a:solidFill>
              </a:defRPr>
            </a:pPr>
            <a:r>
              <a:rPr sz="975" b="1">
                <a:solidFill>
                  <a:srgbClr val="687A91"/>
                </a:solidFill>
              </a:rPr>
              <a:t>02 / 03</a:t>
            </a:r>
          </a:p>
        </p:txBody>
      </p:sp>
    </p:spTree>
    <p:extLst>
      <p:ext uri="{BB962C8B-B14F-4D97-AF65-F5344CB8AC3E}">
        <p14:creationId xmlns:p14="http://schemas.microsoft.com/office/powerpoint/2010/main" val="137653150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364A988-E8B0-4DF3-9070-6A1F105D3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8858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13A"/>
                </a:solidFill>
              </a:defRPr>
            </a:pPr>
            <a:r>
              <a:rPr sz="2850" b="1">
                <a:solidFill>
                  <a:srgbClr val="10213A"/>
                </a:solidFill>
              </a:rPr>
              <a:t>pilot บอกอะไรเรา และต้องทำอะไรต่อ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2758CA-AB9F-4D30-8D9B-498E3C613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4657D"/>
                </a:solidFill>
              </a:defRPr>
            </a:pPr>
            <a:r>
              <a:rPr sz="1500" b="0">
                <a:solidFill>
                  <a:srgbClr val="54657D"/>
                </a:solidFill>
              </a:rPr>
              <a:t>ผลรอบแรกยืนยันว่า pipeline ทำงาน แต่ข้อมูลและ compute ยังเป็นคอขวด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5C0BD8-36B8-446C-ADC7-B99F44BF7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52600"/>
            <a:ext cx="6191250" cy="3962400"/>
          </a:xfrm>
          <a:prstGeom xmlns:a="http://schemas.openxmlformats.org/drawingml/2006/main" prst="roundRect">
            <a:avLst>
              <a:gd name="adj" fmla="val 1923"/>
            </a:avLst>
          </a:prstGeom>
          <a:solidFill xmlns:a="http://schemas.openxmlformats.org/drawingml/2006/main">
            <a:srgbClr val="F4F8FC"/>
          </a:solidFill>
          <a:ln xmlns:a="http://schemas.openxmlformats.org/drawingml/2006/main" w="9525">
            <a:solidFill>
              <a:srgbClr val="D7E2E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F1B7FE-0EA7-4B87-9D29-0192A4203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383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4657D"/>
                </a:solidFill>
              </a:defRPr>
            </a:pPr>
            <a:r>
              <a:rPr sz="1200" b="1">
                <a:solidFill>
                  <a:srgbClr val="54657D"/>
                </a:solidFill>
              </a:rPr>
              <a:t>PILOT RESULT · 4 คืน · 588 epochs · CPU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256939-332D-4109-9DDF-C6EAF2E7C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067300"/>
            <a:ext cx="4619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1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9462BD-C344-4FBC-99E8-58ECEA2EF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067300"/>
            <a:ext cx="4619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1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92BED0-BBE0-45EF-96C6-5525521F6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720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4657D"/>
                </a:solidFill>
              </a:defRPr>
            </a:pPr>
            <a:r>
              <a:rPr sz="1050" b="0">
                <a:solidFill>
                  <a:srgbClr val="54657D"/>
                </a:solidFill>
              </a:rPr>
              <a:t>0%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3AA3ED-4598-414B-BEEC-2C09E246A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495800"/>
            <a:ext cx="4619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A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6B6B05-AAE9-43A2-B9EE-E0BD0EEB8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005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4657D"/>
                </a:solidFill>
              </a:defRPr>
            </a:pPr>
            <a:r>
              <a:rPr sz="1050" b="0">
                <a:solidFill>
                  <a:srgbClr val="54657D"/>
                </a:solidFill>
              </a:rPr>
              <a:t>25%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217B2F-1DD8-4668-9EAA-30459DD97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924300"/>
            <a:ext cx="4619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A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DE11C8-68BE-4072-98A2-BBF7A2846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290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4657D"/>
                </a:solidFill>
              </a:defRPr>
            </a:pPr>
            <a:r>
              <a:rPr sz="1050" b="0">
                <a:solidFill>
                  <a:srgbClr val="54657D"/>
                </a:solidFill>
              </a:rPr>
              <a:t>50%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D1A70C-DB7E-4FB3-A335-AD648C6A8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352800"/>
            <a:ext cx="4619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A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9F87C0-C451-4174-8560-A079736DB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575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4657D"/>
                </a:solidFill>
              </a:defRPr>
            </a:pPr>
            <a:r>
              <a:rPr sz="1050" b="0">
                <a:solidFill>
                  <a:srgbClr val="54657D"/>
                </a:solidFill>
              </a:rPr>
              <a:t>75%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B9C3FC-32D4-4CBC-A72E-80E6EA698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781300"/>
            <a:ext cx="4619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A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B3FAEE-205E-4D1C-9F09-D593598F6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860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4657D"/>
                </a:solidFill>
              </a:defRPr>
            </a:pPr>
            <a:r>
              <a:rPr sz="1050" b="0">
                <a:solidFill>
                  <a:srgbClr val="54657D"/>
                </a:solidFill>
              </a:rPr>
              <a:t>100%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AC5848-FFCA-4F3F-B7B8-7CE20AA8C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169920"/>
            <a:ext cx="4619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AE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95E809-1C07-4001-A431-6D5A8EA97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769870"/>
            <a:ext cx="2047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4657D"/>
                </a:solidFill>
              </a:defRPr>
            </a:pPr>
            <a:r>
              <a:rPr sz="1050" b="0">
                <a:solidFill>
                  <a:srgbClr val="54657D"/>
                </a:solidFill>
              </a:rPr>
              <a:t>83% · paper reported</a:t>
            </a:r>
          </a:p>
          <a:p xmlns:a="http://schemas.openxmlformats.org/drawingml/2006/main">
            <a:pPr algn="r">
              <a:defRPr sz="1050" b="0">
                <a:solidFill>
                  <a:srgbClr val="54657D"/>
                </a:solidFill>
              </a:defRPr>
            </a:pPr>
            <a:r>
              <a:rPr sz="1050" b="0">
                <a:solidFill>
                  <a:srgbClr val="54657D"/>
                </a:solidFill>
              </a:rPr>
              <a:t>full protocol; not directly comparable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047A04-D785-44B0-8425-63986E723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495800"/>
            <a:ext cx="11430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8B7C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EF83D5-DBC0-4301-B08A-272213B85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1719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13A"/>
                </a:solidFill>
              </a:defRPr>
            </a:pPr>
            <a:r>
              <a:rPr sz="1800" b="1">
                <a:solidFill>
                  <a:srgbClr val="10213A"/>
                </a:solidFill>
              </a:rPr>
              <a:t>25%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D2B617-67C0-4953-A1EF-CB74E21B2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257800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4657D"/>
                </a:solidFill>
              </a:defRPr>
            </a:pPr>
            <a:r>
              <a:rPr sz="1200" b="1">
                <a:solidFill>
                  <a:srgbClr val="54657D"/>
                </a:solidFill>
              </a:rPr>
              <a:t>unweighted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8E6F2C-9D3C-4B83-9B4F-CF7F3A5FC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995166"/>
            <a:ext cx="1143000" cy="1072134"/>
          </a:xfrm>
          <a:prstGeom xmlns:a="http://schemas.openxmlformats.org/drawingml/2006/main" prst="roundRect">
            <a:avLst>
              <a:gd name="adj" fmla="val 7107"/>
            </a:avLst>
          </a:prstGeom>
          <a:solidFill xmlns:a="http://schemas.openxmlformats.org/drawingml/2006/main">
            <a:srgbClr val="25B6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209DCB-5A23-4129-BC28-0E809BFE1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671316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13A"/>
                </a:solidFill>
              </a:defRPr>
            </a:pPr>
            <a:r>
              <a:rPr sz="1800" b="1">
                <a:solidFill>
                  <a:srgbClr val="10213A"/>
                </a:solidFill>
              </a:rPr>
              <a:t>46.9%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D4A469-6557-45E1-84C7-B5A37E7E1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5257800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4657D"/>
                </a:solidFill>
              </a:defRPr>
            </a:pPr>
            <a:r>
              <a:rPr sz="1200" b="1">
                <a:solidFill>
                  <a:srgbClr val="54657D"/>
                </a:solidFill>
              </a:rPr>
              <a:t>class-weighted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75FD8F3-C37B-47A3-8CD5-16404B561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4673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5B6A5"/>
                </a:solidFill>
              </a:defRPr>
            </a:pPr>
            <a:r>
              <a:rPr sz="1650" b="1">
                <a:solidFill>
                  <a:srgbClr val="25B6A5"/>
                </a:solidFill>
              </a:rPr>
              <a:t>+21.9 pp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FB7CF1A-4921-4BE0-92F9-CA78CCF82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724525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4657D"/>
                </a:solidFill>
              </a:defRPr>
            </a:pPr>
            <a:r>
              <a:rPr sz="1125" b="0">
                <a:solidFill>
                  <a:srgbClr val="54657D"/>
                </a:solidFill>
              </a:rPr>
              <a:t>ดีขึ้นเมื่อชดเชย class imbalance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EA8F2F5-BA45-4535-B9BA-83FDE17C3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752600"/>
            <a:ext cx="4191000" cy="419100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F8FBFE"/>
          </a:solidFill>
          <a:ln xmlns:a="http://schemas.openxmlformats.org/drawingml/2006/main" w="9525">
            <a:solidFill>
              <a:srgbClr val="D7E2E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046F3D3-3D0F-47B9-9D0D-1661E2272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7645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13A"/>
                </a:solidFill>
              </a:defRPr>
            </a:pPr>
            <a:r>
              <a:rPr sz="1800" b="1">
                <a:solidFill>
                  <a:srgbClr val="10213A"/>
                </a:solidFill>
              </a:rPr>
              <a:t>ข้อค้นพบสำคัญ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1CD9A2B-BD73-4CC9-9C89-E51AC24D3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7241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B6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1496A64-4EB6-4A14-8246-BD8DAAAF5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705100"/>
            <a:ext cx="304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13A"/>
                </a:solidFill>
              </a:defRPr>
            </a:pPr>
            <a:r>
              <a:rPr sz="1425" b="1">
                <a:solidFill>
                  <a:srgbClr val="10213A"/>
                </a:solidFill>
              </a:rPr>
              <a:t>โมเดลอ่านข้อมูลได้จริง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5AB91DE-B802-44AA-A120-E9C35EA60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981325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4657D"/>
                </a:solidFill>
              </a:defRPr>
            </a:pPr>
            <a:r>
              <a:rPr sz="1200" b="0">
                <a:solidFill>
                  <a:srgbClr val="54657D"/>
                </a:solidFill>
              </a:rPr>
              <a:t>โหลด EDF → train → evaluate ครบ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F042BBA-C5D5-4B1B-8557-D73715DAD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4671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B5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64C502B-5C15-4E88-902E-832899308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448050"/>
            <a:ext cx="304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13A"/>
                </a:solidFill>
              </a:defRPr>
            </a:pPr>
            <a:r>
              <a:rPr sz="1425" b="1">
                <a:solidFill>
                  <a:srgbClr val="10213A"/>
                </a:solidFill>
              </a:rPr>
              <a:t>class imbalance สำคัญ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9342104-CBCD-44C0-916C-1A3C66A62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724275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4657D"/>
                </a:solidFill>
              </a:defRPr>
            </a:pPr>
            <a:r>
              <a:rPr sz="1200" b="0">
                <a:solidFill>
                  <a:srgbClr val="54657D"/>
                </a:solidFill>
              </a:rPr>
              <a:t>N1 และ REM ยังถูกทำนายน้อย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F7A3C98-60F3-456E-A1DD-6CA1ED99C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2100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7C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A693AE8-61DE-4025-8EAC-A4005FB65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191000"/>
            <a:ext cx="304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13A"/>
                </a:solidFill>
              </a:defRPr>
            </a:pPr>
            <a:r>
              <a:rPr sz="1425" b="1">
                <a:solidFill>
                  <a:srgbClr val="10213A"/>
                </a:solidFill>
              </a:rPr>
              <a:t>ยังสรุปผลใหญ่ไม่ได้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B5286B5-9489-48E2-BF56-ECB54A0C9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467225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4657D"/>
                </a:solidFill>
              </a:defRPr>
            </a:pPr>
            <a:r>
              <a:rPr sz="1200" b="0">
                <a:solidFill>
                  <a:srgbClr val="54657D"/>
                </a:solidFill>
              </a:rPr>
              <a:t>ต้องใช้ full dataset และ GPU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E8365AB-35BC-425E-959E-1E94473B8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762500"/>
            <a:ext cx="333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05F59FD-9D78-4B62-9CCD-13350F41B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9530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7B65"/>
                </a:solidFill>
              </a:defRPr>
            </a:pPr>
            <a:r>
              <a:rPr sz="1200" b="1">
                <a:solidFill>
                  <a:srgbClr val="F47B65"/>
                </a:solidFill>
              </a:rPr>
              <a:t>NEXT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C8BC49B-8A76-4499-9410-28B987BF1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5219700"/>
            <a:ext cx="314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13A"/>
                </a:solidFill>
              </a:defRPr>
            </a:pPr>
            <a:r>
              <a:rPr sz="1350" b="1">
                <a:solidFill>
                  <a:srgbClr val="10213A"/>
                </a:solidFill>
              </a:rPr>
              <a:t>1  Full Sleep-EDF</a:t>
            </a:r>
          </a:p>
          <a:p xmlns:a="http://schemas.openxmlformats.org/drawingml/2006/main">
            <a:pPr algn="l">
              <a:defRPr sz="1350" b="1">
                <a:solidFill>
                  <a:srgbClr val="10213A"/>
                </a:solidFill>
              </a:defRPr>
            </a:pPr>
            <a:r>
              <a:rPr sz="1350" b="1">
                <a:solidFill>
                  <a:srgbClr val="10213A"/>
                </a:solidFill>
              </a:rPr>
              <a:t>2  Train บน GPU</a:t>
            </a:r>
          </a:p>
          <a:p xmlns:a="http://schemas.openxmlformats.org/drawingml/2006/main">
            <a:pPr algn="l">
              <a:defRPr sz="1350" b="1">
                <a:solidFill>
                  <a:srgbClr val="10213A"/>
                </a:solidFill>
              </a:defRPr>
            </a:pPr>
            <a:r>
              <a:rPr sz="1350" b="1">
                <a:solidFill>
                  <a:srgbClr val="10213A"/>
                </a:solidFill>
              </a:rPr>
              <a:t>3  Validate ข้าม dataset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3CD6878-166C-4388-BECC-019C39114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6E323A5-6CDE-4F49-8DA4-EC3BEA532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7225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A91"/>
                </a:solidFill>
              </a:defRPr>
            </a:pPr>
            <a:r>
              <a:rPr sz="975" b="0">
                <a:solidFill>
                  <a:srgbClr val="687A91"/>
                </a:solidFill>
              </a:rPr>
              <a:t>ผล pilot จาก local reproduction · paper benchmark ใช้ protocol เต็มของผู้วิจัย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736AECC-AF2B-44FE-B426-AC93ABD7E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722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7A91"/>
                </a:solidFill>
              </a:defRPr>
            </a:pPr>
            <a:r>
              <a:rPr sz="975" b="1">
                <a:solidFill>
                  <a:srgbClr val="687A91"/>
                </a:solidFill>
              </a:rPr>
              <a:t>03 / 03</a:t>
            </a:r>
          </a:p>
        </p:txBody>
      </p:sp>
    </p:spTree>
    <p:extLst>
      <p:ext uri="{BB962C8B-B14F-4D97-AF65-F5344CB8AC3E}">
        <p14:creationId xmlns:p14="http://schemas.microsoft.com/office/powerpoint/2010/main" val="9724345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2026-08-18T13:01:36.0280000Z</dcterms:created>
  <dcterms:modified xsi:type="dcterms:W3CDTF">2026-08-18T13:01:36.0280000Z</dcterms:modified>
</coreProperties>
</file>